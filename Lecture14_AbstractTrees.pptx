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7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883C8-6976-46CB-99E8-F5EF2192834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CBB16-D1D4-40FC-B9F7-93C443F2FA6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0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13C09-96F7-4581-BC31-08BD552FFFB4}" type="slidenum">
              <a:rPr lang="en-CA" smtClean="0"/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E8ADC-0D3C-486D-8873-3D1A92BC7289}" type="slidenum">
              <a:rPr lang="en-CA" smtClean="0"/>
              <a:t>5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0BB74-ECA5-4123-97FB-E62CF87BAE3A}" type="slidenum">
              <a:rPr lang="en-CA" smtClean="0"/>
              <a:t>6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0BB74-ECA5-4123-97FB-E62CF87BAE3A}" type="slidenum">
              <a:rPr lang="en-CA" smtClean="0"/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55C23-CF9F-433A-8F7B-54E2D3793FB9}" type="slidenum">
              <a:rPr lang="en-CA" smtClean="0"/>
              <a:t>9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EC4BF-9AFC-45C6-805A-7DBB3D0E6245}" type="slidenum">
              <a:rPr lang="en-CA" smtClean="0"/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CBB08-6CE1-44D3-8774-C87C0CDAA659}" type="slidenum">
              <a:rPr lang="en-CA" smtClean="0"/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4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4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B4BAC-BA8E-4972-8D36-320F3C1707C4}" type="slidenum">
              <a:rPr lang="en-CA" smtClean="0"/>
              <a:t>12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A51B9-6F26-49A0-87BF-927B1E91F9C2}" type="slidenum">
              <a:rPr lang="en-CA" smtClean="0"/>
              <a:t>13</a:t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5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650F95-3F14-4BF6-9217-CDAFF90FE716}" type="slidenum">
              <a:rPr lang="en-CA" smtClean="0"/>
              <a:t>14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6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FB485-62CA-4119-B059-E2AEDE92D55D}" type="slidenum">
              <a:rPr lang="en-CA" smtClean="0"/>
              <a:t>15</a:t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6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7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BD3C7-4D58-44BE-9438-A1289FB959E5}" type="slidenum">
              <a:rPr lang="en-CA" smtClean="0"/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31BC42-D8A3-40D8-8D38-F3B81C693D44}" type="slidenum">
              <a:rPr lang="en-CA" smtClean="0"/>
              <a:t>17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4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7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0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1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26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7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8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0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3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3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6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  <p:sp>
        <p:nvSpPr>
          <p:cNvPr id="1048692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3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38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9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40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7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1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02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707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/>
            <a:lvl2pPr algn="l"/>
            <a:lvl3pPr algn="l"/>
            <a:lvl4pPr algn="l"/>
            <a:lvl5pPr algn="l"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7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695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EA1264-848B-4852-B6DD-D2ABCAAAEA2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6E8F412-18FD-4D50-9122-D5EEA29917E1}" type="slidenum">
              <a:rPr lang="en-US" smtClean="0"/>
              <a:t>‹#›</a:t>
            </a:fld>
            <a:endParaRPr lang="en-US"/>
          </a:p>
        </p:txBody>
      </p:sp>
      <p:sp>
        <p:nvSpPr>
          <p:cNvPr id="1048581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82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583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Abstract Trees </a:t>
            </a:r>
          </a:p>
        </p:txBody>
      </p:sp>
      <p:sp>
        <p:nvSpPr>
          <p:cNvPr id="1048591" name="TextBox 3"/>
          <p:cNvSpPr txBox="1"/>
          <p:nvPr/>
        </p:nvSpPr>
        <p:spPr>
          <a:xfrm>
            <a:off x="7958011" y="5237404"/>
            <a:ext cx="3702099" cy="1424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Asra Masood</a:t>
            </a:r>
          </a:p>
          <a:p>
            <a:r>
              <a:rPr lang="en-US" dirty="0">
                <a:solidFill>
                  <a:schemeClr val="bg1"/>
                </a:solidFill>
              </a:rPr>
              <a:t>Department of Creative Technologies</a:t>
            </a:r>
          </a:p>
          <a:p>
            <a:r>
              <a:rPr lang="en-US" dirty="0">
                <a:solidFill>
                  <a:schemeClr val="bg1"/>
                </a:solidFill>
              </a:rPr>
              <a:t>Air University Islamabad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95674" y="812660"/>
            <a:ext cx="1464436" cy="146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1048599" name="Content Placeholder 2"/>
          <p:cNvSpPr txBox="1"/>
          <p:nvPr/>
        </p:nvSpPr>
        <p:spPr>
          <a:xfrm>
            <a:off x="818935" y="2024440"/>
            <a:ext cx="10791873" cy="4131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sz="2800" dirty="0"/>
              <a:t>This topic we will discuss:</a:t>
            </a:r>
          </a:p>
          <a:p>
            <a:pPr lvl="1" algn="just"/>
            <a:r>
              <a:rPr lang="en-US" altLang="en-US" sz="2600" dirty="0"/>
              <a:t>Hierarchical ordering</a:t>
            </a:r>
          </a:p>
          <a:p>
            <a:pPr lvl="1" algn="just"/>
            <a:r>
              <a:rPr lang="en-US" altLang="en-US" sz="2600" dirty="0"/>
              <a:t>Description of an Abstract Tree/Hierarchy</a:t>
            </a:r>
          </a:p>
          <a:p>
            <a:pPr lvl="1" algn="just"/>
            <a:r>
              <a:rPr lang="en-US" altLang="en-US" sz="2600" dirty="0"/>
              <a:t>Applications</a:t>
            </a:r>
          </a:p>
          <a:p>
            <a:pPr lvl="1" algn="just"/>
            <a:r>
              <a:rPr lang="en-US" altLang="en-US" sz="2600" dirty="0"/>
              <a:t>Implementation</a:t>
            </a:r>
          </a:p>
          <a:p>
            <a:pPr lvl="1" algn="just"/>
            <a:r>
              <a:rPr lang="en-US" altLang="en-US" sz="2600" dirty="0"/>
              <a:t>Local definitions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1048601" name="Content Placeholder 2"/>
          <p:cNvSpPr txBox="1"/>
          <p:nvPr/>
        </p:nvSpPr>
        <p:spPr>
          <a:xfrm>
            <a:off x="818935" y="2024440"/>
            <a:ext cx="10791873" cy="4131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en-US" altLang="en-US" sz="2000" dirty="0">
                <a:latin typeface="Arial" charset="0"/>
                <a:cs typeface="Arial" charset="0"/>
              </a:rPr>
              <a:t>A hierarchical ordering of a finite number of objects may be stored in a tree data structure</a:t>
            </a:r>
          </a:p>
          <a:p>
            <a:pPr>
              <a:buFont typeface="Arial" charset="0"/>
              <a:buNone/>
            </a:pPr>
            <a:r>
              <a:rPr lang="en-US" altLang="en-US" sz="2000" dirty="0">
                <a:latin typeface="Arial" charset="0"/>
                <a:cs typeface="Arial" charset="0"/>
              </a:rPr>
              <a:t>Operations on a hierarchically stored container include:</a:t>
            </a:r>
          </a:p>
          <a:p>
            <a:pPr lvl="1"/>
            <a:r>
              <a:rPr lang="en-US" altLang="en-US" sz="1800" dirty="0">
                <a:latin typeface="Arial" charset="0"/>
                <a:cs typeface="Arial" charset="0"/>
              </a:rPr>
              <a:t>Accessing the root:</a:t>
            </a:r>
          </a:p>
          <a:p>
            <a:pPr lvl="1"/>
            <a:r>
              <a:rPr lang="en-US" altLang="en-US" sz="1800" dirty="0">
                <a:latin typeface="Arial" charset="0"/>
                <a:cs typeface="Arial" charset="0"/>
              </a:rPr>
              <a:t>Given an object in the container: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Access the parent of the current object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Find the degree of the current object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Get a reference to a child,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Attach a new sub-tree to the current object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Detach this tree from its parent</a:t>
            </a:r>
            <a:endParaRPr lang="en-US" altLang="en-US" sz="2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48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48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48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8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48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48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48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48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486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486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486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86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86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86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486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486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486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486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486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486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5" descr="tre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85464" y="3074535"/>
            <a:ext cx="3902075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Abstract Trees</a:t>
            </a:r>
          </a:p>
        </p:txBody>
      </p:sp>
      <p:sp>
        <p:nvSpPr>
          <p:cNvPr id="1048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729" y="1662745"/>
            <a:ext cx="11029615" cy="1694818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An abstract tree (or abstract hierarchy) does not restrict the number of nodes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In this tree, the degrees vary:</a:t>
            </a:r>
          </a:p>
        </p:txBody>
      </p:sp>
      <p:graphicFrame>
        <p:nvGraphicFramePr>
          <p:cNvPr id="4194304" name="Group 41"/>
          <p:cNvGraphicFramePr>
            <a:graphicFrameLocks noGrp="1"/>
          </p:cNvGraphicFramePr>
          <p:nvPr/>
        </p:nvGraphicFramePr>
        <p:xfrm>
          <a:off x="1532109" y="3327552"/>
          <a:ext cx="3384550" cy="1981200"/>
        </p:xfrm>
        <a:graphic>
          <a:graphicData uri="http://schemas.openxmlformats.org/drawingml/2006/table">
            <a:tbl>
              <a:tblPr/>
              <a:tblGrid>
                <a:gridCol w="115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Degree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Nodes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D, F, G, J, K, L, M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A, B, E, H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Abstract Trees:  Design</a:t>
            </a:r>
          </a:p>
        </p:txBody>
      </p:sp>
      <p:sp>
        <p:nvSpPr>
          <p:cNvPr id="10486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3" y="1273871"/>
            <a:ext cx="11029615" cy="251549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implement an abstract tree or hierarchy by using a class that: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Stores a value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Stores the children in a linked-list</a:t>
            </a:r>
          </a:p>
        </p:txBody>
      </p:sp>
      <p:pic>
        <p:nvPicPr>
          <p:cNvPr id="2097154" name="Picture 4" descr="tre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32743" y="3429000"/>
            <a:ext cx="3311525" cy="24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930125"/>
            <a:ext cx="11029615" cy="4927875"/>
          </a:xfrm>
        </p:spPr>
        <p:txBody>
          <a:bodyPr>
            <a:normAutofit fontScale="71429" lnSpcReduction="20000"/>
          </a:bodyPr>
          <a:lstStyle/>
          <a:p>
            <a:pPr>
              <a:buFont typeface="Arial" charset="0"/>
              <a:buNone/>
            </a:pPr>
            <a:r>
              <a:rPr lang="en-US" altLang="en-US" sz="14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The class definition would be:</a:t>
            </a:r>
            <a:endParaRPr lang="en-US" altLang="en-US" sz="1600" dirty="0">
              <a:latin typeface="Arial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{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private: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int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node_value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linkedlist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&gt; children;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 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public: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( int = int(),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* = nullptr );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int retrieve() const;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*parent()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degree()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is_root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is_leaf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*child(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n )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  int height() const;</a:t>
            </a: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void insert( int const &amp; );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void attach( </a:t>
            </a:r>
            <a:r>
              <a:rPr lang="en-US" altLang="en-US" sz="1600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* );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        void detach();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b="1" dirty="0">
                <a:latin typeface="Consolas" pitchFamily="49" charset="0"/>
                <a:cs typeface="Consolas" pitchFamily="49" charset="0"/>
              </a:rPr>
              <a:t>};</a:t>
            </a:r>
            <a:endParaRPr lang="en-CA" altLang="en-US" sz="1600" b="1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  <a:endParaRPr lang="en-CA" altLang="en-US">
              <a:latin typeface="Arial" charset="0"/>
              <a:cs typeface="Arial" charset="0"/>
            </a:endParaRP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352592" y="1568346"/>
            <a:ext cx="11029615" cy="84573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The tree with six nodes would be stored as follows:</a:t>
            </a:r>
          </a:p>
        </p:txBody>
      </p:sp>
      <p:pic>
        <p:nvPicPr>
          <p:cNvPr id="2097155" name="Picture 4" descr="C:\Users\dwharder\Desktop\simptre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37442" y="2266469"/>
            <a:ext cx="6911975" cy="38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3" y="1799496"/>
            <a:ext cx="11029615" cy="5058504"/>
          </a:xfrm>
        </p:spPr>
        <p:txBody>
          <a:bodyPr>
            <a:normAutofit fontScale="71071" lnSpcReduction="20000"/>
          </a:bodyPr>
          <a:lstStyle/>
          <a:p>
            <a:pPr>
              <a:buFont typeface="Arial" charset="0"/>
              <a:buNone/>
            </a:pPr>
            <a:r>
              <a:rPr lang="en-US" altLang="en-US" sz="1400" dirty="0">
                <a:latin typeface="Arial" charset="0"/>
                <a:cs typeface="Arial" charset="0"/>
              </a:rPr>
              <a:t>	</a:t>
            </a:r>
            <a:r>
              <a:rPr lang="en-US" altLang="en-US" sz="2100" b="1" dirty="0">
                <a:latin typeface="Arial" charset="0"/>
                <a:cs typeface="Arial" charset="0"/>
              </a:rPr>
              <a:t>The class definition would be:</a:t>
            </a: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template &lt;typename Type&gt;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{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private: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Type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node_value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linkedlist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*&gt; children;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public: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( Type const &amp; = Type(),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* = NULL );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Type retrieve() const;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*parent() const;</a:t>
            </a: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int degree() const;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is_root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is_leaf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*child( int n ) const;</a:t>
            </a:r>
          </a:p>
          <a:p>
            <a:pPr lvl="2">
              <a:buFont typeface="Arial" charset="0"/>
              <a:buNone/>
            </a:pPr>
            <a:r>
              <a:rPr lang="en-CA" altLang="en-US" b="1" dirty="0">
                <a:latin typeface="Consolas" pitchFamily="49" charset="0"/>
                <a:cs typeface="Consolas" pitchFamily="49" charset="0"/>
              </a:rPr>
              <a:t>	    int size() const;</a:t>
            </a: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  int height() const;</a:t>
            </a: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void insert( Type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&amp; );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void attach( </a:t>
            </a:r>
            <a:r>
              <a:rPr lang="en-US" altLang="en-US" b="1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* );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        void detach();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b="1" dirty="0">
                <a:latin typeface="Consolas" pitchFamily="49" charset="0"/>
                <a:cs typeface="Consolas" pitchFamily="49" charset="0"/>
              </a:rPr>
              <a:t>};</a:t>
            </a:r>
            <a:endParaRPr lang="en-CA" altLang="en-US" b="1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715956"/>
            <a:ext cx="11029615" cy="5290457"/>
          </a:xfrm>
        </p:spPr>
        <p:txBody>
          <a:bodyPr>
            <a:normAutofit fontScale="68611" lnSpcReduction="2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  <a:r>
              <a:rPr lang="en-US" altLang="en-US" sz="2500" dirty="0">
                <a:latin typeface="Arial" charset="0"/>
                <a:cs typeface="Arial" charset="0"/>
              </a:rPr>
              <a:t>Much of the functionality is similar to that of the </a:t>
            </a: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linkedlist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2500" dirty="0">
                <a:latin typeface="Arial" charset="0"/>
                <a:cs typeface="Arial" charset="0"/>
              </a:rPr>
              <a:t>class</a:t>
            </a:r>
            <a:endParaRPr lang="en-US" altLang="en-US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template &lt;typename Type&gt;</a:t>
            </a:r>
          </a:p>
          <a:p>
            <a:pPr lvl="2">
              <a:buFont typeface="Arial" charset="0"/>
              <a:buNone/>
            </a:pP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( Type const &amp;obj, </a:t>
            </a: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 *p ):</a:t>
            </a:r>
          </a:p>
          <a:p>
            <a:pPr lvl="2">
              <a:buFont typeface="Arial" charset="0"/>
              <a:buNone/>
            </a:pP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node_value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( obj ),</a:t>
            </a:r>
          </a:p>
          <a:p>
            <a:pPr lvl="2">
              <a:buFont typeface="Arial" charset="0"/>
              <a:buNone/>
            </a:pP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( p ) {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    // Empty constructor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template &lt;typename Type&gt;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Type </a:t>
            </a: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&lt;Type&gt;::value() const {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node_value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template &lt;typename Type&gt;</a:t>
            </a:r>
          </a:p>
          <a:p>
            <a:pPr lvl="2">
              <a:buFont typeface="Arial" charset="0"/>
              <a:buNone/>
            </a:pP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&lt;Type&gt; *</a:t>
            </a: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&lt;Type&gt;::parent() const {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en-US" sz="2500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2">
              <a:buFont typeface="Arial" charset="0"/>
              <a:buNone/>
            </a:pPr>
            <a:r>
              <a:rPr lang="en-US" altLang="en-US" sz="25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180496"/>
            <a:ext cx="11029615" cy="4400186"/>
          </a:xfrm>
        </p:spPr>
        <p:txBody>
          <a:bodyPr>
            <a:normAutofit fontScale="85000" lnSpcReduction="2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Much of the functionality is similar to that of the </a:t>
            </a:r>
            <a:r>
              <a:rPr lang="en-US" altLang="en-US" dirty="0" err="1">
                <a:latin typeface="Consolas" pitchFamily="49" charset="0"/>
                <a:cs typeface="Consolas" pitchFamily="49" charset="0"/>
              </a:rPr>
              <a:t>Linkedlist</a:t>
            </a:r>
            <a:r>
              <a:rPr lang="en-US" altLang="en-US" dirty="0">
                <a:latin typeface="Arial" charset="0"/>
                <a:cs typeface="Arial" charset="0"/>
              </a:rPr>
              <a:t> class:</a:t>
            </a:r>
            <a:endParaRPr lang="zh-CN" altLang="en-US" dirty="0"/>
          </a:p>
          <a:p>
            <a:pPr lvl="2">
              <a:buFont typeface="Arial" charset="0"/>
              <a:buNone/>
            </a:pPr>
            <a:endParaRPr lang="en-US" altLang="en-US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template &lt;typename Type&gt;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bool </a:t>
            </a:r>
            <a:r>
              <a:rPr lang="en-US" altLang="en-US" sz="16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1600" dirty="0" err="1">
                <a:latin typeface="Consolas" pitchFamily="49" charset="0"/>
                <a:cs typeface="Consolas" pitchFamily="49" charset="0"/>
              </a:rPr>
              <a:t>is_root</a:t>
            </a: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() const {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    return ( parent() == nullptr );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}</a:t>
            </a:r>
            <a:endParaRPr sz="1400" dirty="0"/>
          </a:p>
          <a:p>
            <a:pPr lvl="2">
              <a:buFont typeface="Arial" charset="0"/>
              <a:buNone/>
            </a:pPr>
            <a:endParaRPr lang="en-US" altLang="en-US" sz="16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template &lt;typename Type&gt;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int </a:t>
            </a:r>
            <a:r>
              <a:rPr lang="en-US" altLang="en-US" sz="16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&lt;Type&gt;::degree() const {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en-US" sz="1600" dirty="0" err="1">
                <a:latin typeface="Consolas" pitchFamily="49" charset="0"/>
                <a:cs typeface="Consolas" pitchFamily="49" charset="0"/>
              </a:rPr>
              <a:t>children.size</a:t>
            </a: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();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template &lt;typename Type&gt;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bool </a:t>
            </a:r>
            <a:r>
              <a:rPr lang="en-US" altLang="en-US" sz="16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1600" dirty="0" err="1">
                <a:latin typeface="Consolas" pitchFamily="49" charset="0"/>
                <a:cs typeface="Consolas" pitchFamily="49" charset="0"/>
              </a:rPr>
              <a:t>is_leaf</a:t>
            </a: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() const {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    return ( degree() == 0 );</a:t>
            </a:r>
            <a:endParaRPr sz="1400" dirty="0"/>
          </a:p>
          <a:p>
            <a:pPr lvl="2">
              <a:buFont typeface="Arial" charset="0"/>
              <a:buNone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Accessing the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en-US" baseline="30000" dirty="0">
                <a:latin typeface="Arial" charset="0"/>
                <a:cs typeface="Arial" charset="0"/>
              </a:rPr>
              <a:t>th</a:t>
            </a:r>
            <a:r>
              <a:rPr lang="en-US" altLang="en-US" dirty="0">
                <a:latin typeface="Arial" charset="0"/>
                <a:cs typeface="Arial" charset="0"/>
              </a:rPr>
              <a:t>     child requires a for loop (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):</a:t>
            </a:r>
            <a:endParaRPr lang="en-US" altLang="en-US" sz="16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sz="1600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template &lt;typename Type&gt;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&lt;Type&gt; *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&lt;Type&gt;::child( int n ) const 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if ( n &lt; 0 || n &gt;= degree() ) 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    return nullptr;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}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 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Simple_tree  *child =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children.head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();</a:t>
            </a:r>
            <a:endParaRPr lang="zh-CN" altLang="en-US"/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 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// Skip the first n - 1 children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for ( int i = 1; i &lt; n; ++i ) 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    child = child-&gt;next();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}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 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return child-&gt;value();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}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Attaching a new object to become a child is similar to a linked list:</a:t>
            </a:r>
            <a:endParaRPr lang="en-US" altLang="en-US" sz="16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sz="1600" dirty="0">
              <a:latin typeface="Arial" charset="0"/>
              <a:cs typeface="Arial" charset="0"/>
            </a:endParaRP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void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dirty="0">
                <a:latin typeface="Consolas" pitchFamily="49" charset="0"/>
                <a:cs typeface="Arial" charset="0"/>
              </a:rPr>
              <a:t>&lt;Type&gt;::attach( Type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const</a:t>
            </a:r>
            <a:r>
              <a:rPr lang="en-US" altLang="en-US" dirty="0">
                <a:latin typeface="Consolas" pitchFamily="49" charset="0"/>
                <a:cs typeface="Arial" charset="0"/>
              </a:rPr>
              <a:t> &amp;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obj</a:t>
            </a:r>
            <a:r>
              <a:rPr lang="en-US" altLang="en-US" dirty="0">
                <a:latin typeface="Consolas" pitchFamily="49" charset="0"/>
                <a:cs typeface="Arial" charset="0"/>
              </a:rPr>
              <a:t> ) {</a:t>
            </a: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   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children.push_back</a:t>
            </a:r>
            <a:r>
              <a:rPr lang="en-US" altLang="en-US" dirty="0">
                <a:latin typeface="Consolas" pitchFamily="49" charset="0"/>
                <a:cs typeface="Arial" charset="0"/>
              </a:rPr>
              <a:t>( new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dirty="0">
                <a:latin typeface="Consolas" pitchFamily="49" charset="0"/>
                <a:cs typeface="Arial" charset="0"/>
              </a:rPr>
              <a:t>(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obj</a:t>
            </a:r>
            <a:r>
              <a:rPr lang="en-US" altLang="en-US" dirty="0">
                <a:latin typeface="Consolas" pitchFamily="49" charset="0"/>
                <a:cs typeface="Arial" charset="0"/>
              </a:rPr>
              <a:t>, this ) );</a:t>
            </a: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}</a:t>
            </a:r>
          </a:p>
          <a:p>
            <a:pPr>
              <a:buFontTx/>
              <a:buNone/>
            </a:pPr>
            <a:endParaRPr lang="en-US" altLang="en-US" sz="1600" dirty="0">
              <a:latin typeface="Consolas" pitchFamily="49" charset="0"/>
              <a:cs typeface="Arial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>
                <a:latin typeface="Arial" charset="0"/>
                <a:cs typeface="Arial" charset="0"/>
              </a:rPr>
              <a:t>	To detach a tree from its parent:</a:t>
            </a:r>
          </a:p>
          <a:p>
            <a:pPr lvl="1"/>
            <a:r>
              <a:rPr lang="en-US" altLang="en-US">
                <a:latin typeface="Arial" charset="0"/>
                <a:cs typeface="Arial" charset="0"/>
              </a:rPr>
              <a:t>If it is already a root, do nothing</a:t>
            </a:r>
          </a:p>
          <a:p>
            <a:pPr lvl="1"/>
            <a:r>
              <a:rPr lang="en-US" altLang="en-US">
                <a:latin typeface="Arial" charset="0"/>
                <a:cs typeface="Arial" charset="0"/>
              </a:rPr>
              <a:t>Otherwise, erase this object from the parent’s list of children and set the parent pointer to zero </a:t>
            </a:r>
          </a:p>
          <a:p>
            <a:pPr lvl="2">
              <a:buFontTx/>
              <a:buNone/>
            </a:pPr>
            <a:endParaRPr lang="en-CA" altLang="en-US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void Simple_tree&lt;Type&gt;::detach() {</a:t>
            </a: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    if ( is_root() ) {</a:t>
            </a: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        return;</a:t>
            </a: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Tx/>
              <a:buNone/>
            </a:pPr>
            <a:endParaRPr lang="en-CA" altLang="en-US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    parent()-&gt;children.erase( this );</a:t>
            </a: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    parent_node = nullptr;</a:t>
            </a:r>
          </a:p>
          <a:p>
            <a:pPr lvl="2">
              <a:buFontTx/>
              <a:buNone/>
            </a:pPr>
            <a:r>
              <a:rPr lang="en-CA" altLang="en-US">
                <a:latin typeface="Consolas" pitchFamily="49" charset="0"/>
                <a:cs typeface="Arial" charset="0"/>
              </a:rPr>
              <a:t>}</a:t>
            </a:r>
          </a:p>
          <a:p>
            <a:pPr lvl="2">
              <a:buFontTx/>
              <a:buNone/>
            </a:pPr>
            <a:endParaRPr lang="en-CA" altLang="en-US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endParaRPr lang="en-CA" altLang="en-US">
              <a:latin typeface="Consolas" pitchFamily="49" charset="0"/>
              <a:cs typeface="Arial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Attaching an entirely new tree as a sub-tree, however, first requires us to check if the tree is not already a sub-tree of another node: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If so, we must detach it first and only then can we add it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void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&lt;Type&gt;::attach(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&lt;Type&gt; *tree ) {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if ( !tree-&gt;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is_root</a:t>
            </a:r>
            <a:r>
              <a:rPr lang="en-CA" altLang="en-US" dirty="0">
                <a:latin typeface="Consolas" pitchFamily="49" charset="0"/>
                <a:cs typeface="Arial" charset="0"/>
              </a:rPr>
              <a:t>() ) {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    tree-&gt;detach();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tree-&gt;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parent_node</a:t>
            </a:r>
            <a:r>
              <a:rPr lang="en-CA" altLang="en-US" dirty="0">
                <a:latin typeface="Consolas" pitchFamily="49" charset="0"/>
                <a:cs typeface="Arial" charset="0"/>
              </a:rPr>
              <a:t> = this;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children.push_back</a:t>
            </a:r>
            <a:r>
              <a:rPr lang="en-CA" altLang="en-US" dirty="0">
                <a:latin typeface="Consolas" pitchFamily="49" charset="0"/>
                <a:cs typeface="Arial" charset="0"/>
              </a:rPr>
              <a:t>( tree );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}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918075"/>
            <a:ext cx="8507413" cy="4525963"/>
          </a:xfrm>
        </p:spPr>
        <p:txBody>
          <a:bodyPr>
            <a:normAutofit fontScale="85000" lnSpcReduction="2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Suppose we want to find the size of a tree: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An empty tree has size 0, a tree with no children has size 1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Otherwise, the size is one plus the size of all the children</a:t>
            </a:r>
          </a:p>
          <a:p>
            <a:pPr lvl="1">
              <a:buFontTx/>
              <a:buNone/>
            </a:pPr>
            <a:r>
              <a:rPr lang="en-US" altLang="en-US" sz="1200" dirty="0">
                <a:latin typeface="Consolas" pitchFamily="49" charset="0"/>
                <a:cs typeface="Arial" charset="0"/>
              </a:rPr>
              <a:t> </a:t>
            </a:r>
            <a:endParaRPr lang="en-CA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int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&lt;Type&gt;::size() const {</a:t>
            </a:r>
          </a:p>
          <a:p>
            <a:pPr lvl="1">
              <a:buFontTx/>
              <a:buNone/>
            </a:pPr>
            <a:r>
              <a:rPr lang="en-US" altLang="en-US" sz="1200" dirty="0">
                <a:latin typeface="Consolas" pitchFamily="49" charset="0"/>
                <a:cs typeface="Arial" charset="0"/>
              </a:rPr>
              <a:t>    if ( this == nullptr ) {</a:t>
            </a:r>
          </a:p>
          <a:p>
            <a:pPr lvl="1">
              <a:buFontTx/>
              <a:buNone/>
            </a:pPr>
            <a:r>
              <a:rPr lang="en-US" altLang="en-US" sz="1200" dirty="0">
                <a:latin typeface="Consolas" pitchFamily="49" charset="0"/>
                <a:cs typeface="Arial" charset="0"/>
              </a:rPr>
              <a:t>        return 0;</a:t>
            </a:r>
          </a:p>
          <a:p>
            <a:pPr lvl="1">
              <a:buFontTx/>
              <a:buNone/>
            </a:pPr>
            <a:r>
              <a:rPr lang="en-US" altLang="en-US" sz="1200" dirty="0">
                <a:latin typeface="Consolas" pitchFamily="49" charset="0"/>
                <a:cs typeface="Arial" charset="0"/>
              </a:rPr>
              <a:t>    }</a:t>
            </a:r>
          </a:p>
          <a:p>
            <a:pPr lvl="1">
              <a:buFontTx/>
              <a:buNone/>
            </a:pPr>
            <a:endParaRPr lang="en-US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int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tree_size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= 1;</a:t>
            </a:r>
          </a:p>
          <a:p>
            <a:pPr lvl="1">
              <a:buFontTx/>
              <a:buNone/>
            </a:pPr>
            <a:endParaRPr lang="en-CA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for ( </a:t>
            </a:r>
            <a:r>
              <a:rPr lang="en-US" altLang="en-US" sz="1200" dirty="0">
                <a:latin typeface="Consolas" pitchFamily="49" charset="0"/>
                <a:cs typeface="Arial" charset="0"/>
              </a:rPr>
              <a:t>Simple_tree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*child =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children.begin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(); child !=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children.end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(); child = child-&gt;next() ) {</a:t>
            </a:r>
            <a:endParaRPr lang="zh-CN" altLang="en-US" dirty="0"/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   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tree_size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+= child-&gt;value()-&gt;size();</a:t>
            </a: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}</a:t>
            </a:r>
          </a:p>
          <a:p>
            <a:pPr lvl="1">
              <a:buFontTx/>
              <a:buNone/>
            </a:pPr>
            <a:endParaRPr lang="en-CA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return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tree_size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;</a:t>
            </a: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2208" y="1972128"/>
            <a:ext cx="8507413" cy="4525963"/>
          </a:xfrm>
        </p:spPr>
        <p:txBody>
          <a:bodyPr>
            <a:normAutofit fontScale="83333" lnSpcReduction="2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Suppose we want to find the height of a tree: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An empty tree has height –1 and a tree with no children is height 0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Otherwise, the height is one plus the maximum height of any sub tree</a:t>
            </a:r>
          </a:p>
          <a:p>
            <a:pPr lvl="2">
              <a:buFontTx/>
              <a:buNone/>
            </a:pPr>
            <a:endParaRPr lang="en-CA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#include &lt;algorithm&gt;</a:t>
            </a:r>
          </a:p>
          <a:p>
            <a:pPr lvl="1">
              <a:buFontTx/>
              <a:buNone/>
            </a:pPr>
            <a:endParaRPr lang="en-CA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1">
              <a:buFontTx/>
              <a:buNone/>
            </a:pPr>
            <a:r>
              <a:rPr lang="en-CA" altLang="en-US" sz="1200" dirty="0" err="1">
                <a:latin typeface="Consolas" pitchFamily="49" charset="0"/>
                <a:cs typeface="Arial" charset="0"/>
              </a:rPr>
              <a:t>int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&lt;Type&gt;::height()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const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{</a:t>
            </a:r>
          </a:p>
          <a:p>
            <a:pPr lvl="1">
              <a:buFontTx/>
              <a:buNone/>
            </a:pPr>
            <a:r>
              <a:rPr lang="en-US" altLang="en-US" sz="1200" dirty="0">
                <a:latin typeface="Consolas" pitchFamily="49" charset="0"/>
                <a:cs typeface="Arial" charset="0"/>
              </a:rPr>
              <a:t>    if ( this == nullptr ) {</a:t>
            </a:r>
          </a:p>
          <a:p>
            <a:pPr lvl="1">
              <a:buFontTx/>
              <a:buNone/>
            </a:pPr>
            <a:r>
              <a:rPr lang="en-US" altLang="en-US" sz="1200" dirty="0">
                <a:latin typeface="Consolas" pitchFamily="49" charset="0"/>
                <a:cs typeface="Arial" charset="0"/>
              </a:rPr>
              <a:t>        return -1;</a:t>
            </a:r>
          </a:p>
          <a:p>
            <a:pPr lvl="1">
              <a:buFontTx/>
              <a:buNone/>
            </a:pPr>
            <a:r>
              <a:rPr lang="en-US" altLang="en-US" sz="1200" dirty="0">
                <a:latin typeface="Consolas" pitchFamily="49" charset="0"/>
                <a:cs typeface="Arial" charset="0"/>
              </a:rPr>
              <a:t>    }</a:t>
            </a:r>
          </a:p>
          <a:p>
            <a:pPr lvl="1">
              <a:buFontTx/>
              <a:buNone/>
            </a:pPr>
            <a:endParaRPr lang="en-US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int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tree_height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= 0;</a:t>
            </a:r>
          </a:p>
          <a:p>
            <a:pPr lvl="1">
              <a:buFontTx/>
              <a:buNone/>
            </a:pPr>
            <a:endParaRPr lang="en-CA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for ( </a:t>
            </a:r>
            <a:r>
              <a:rPr lang="en-US" altLang="en-US" sz="1200" dirty="0">
                <a:latin typeface="Consolas" pitchFamily="49" charset="0"/>
                <a:cs typeface="Arial" charset="0"/>
              </a:rPr>
              <a:t>Simple_tree 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*child =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children.begin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(); child !=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children.end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(); child = child-&gt;next() ) {</a:t>
            </a:r>
            <a:endParaRPr lang="zh-CN" altLang="en-US"/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   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tree_height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 = std::max( h, 1 + child-&gt;value()-&gt;height() );</a:t>
            </a: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}</a:t>
            </a:r>
          </a:p>
          <a:p>
            <a:pPr lvl="1">
              <a:buFontTx/>
              <a:buNone/>
            </a:pPr>
            <a:endParaRPr lang="en-CA" altLang="en-US" sz="12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    return </a:t>
            </a:r>
            <a:r>
              <a:rPr lang="en-CA" altLang="en-US" sz="1200" dirty="0" err="1">
                <a:latin typeface="Consolas" pitchFamily="49" charset="0"/>
                <a:cs typeface="Arial" charset="0"/>
              </a:rPr>
              <a:t>tree_height</a:t>
            </a:r>
            <a:r>
              <a:rPr lang="en-CA" altLang="en-US" sz="1200" dirty="0">
                <a:latin typeface="Consolas" pitchFamily="49" charset="0"/>
                <a:cs typeface="Arial" charset="0"/>
              </a:rPr>
              <a:t>;</a:t>
            </a:r>
          </a:p>
          <a:p>
            <a:pPr lvl="1">
              <a:buFontTx/>
              <a:buNone/>
            </a:pPr>
            <a:r>
              <a:rPr lang="en-CA" altLang="en-US" sz="1200" dirty="0">
                <a:latin typeface="Consolas" pitchFamily="49" charset="0"/>
                <a:cs typeface="Arial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0486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715957"/>
            <a:ext cx="8507413" cy="5142043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Implementing a tree by storing the children in an array is similar,</a:t>
            </a: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however, we must deal with the full structure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 general tree using an array would have a constructor similar to: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2">
              <a:buFontTx/>
              <a:buNone/>
            </a:pP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&lt;Type&gt;::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( Type const &amp;obj,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 *p ):</a:t>
            </a:r>
          </a:p>
          <a:p>
            <a:pPr lvl="2">
              <a:buFontTx/>
              <a:buNone/>
            </a:pPr>
            <a:r>
              <a:rPr lang="en-CA" altLang="en-US" dirty="0" err="1">
                <a:latin typeface="Consolas" pitchFamily="49" charset="0"/>
                <a:cs typeface="Arial" charset="0"/>
              </a:rPr>
              <a:t>node_value</a:t>
            </a:r>
            <a:r>
              <a:rPr lang="en-CA" altLang="en-US" dirty="0">
                <a:latin typeface="Consolas" pitchFamily="49" charset="0"/>
                <a:cs typeface="Arial" charset="0"/>
              </a:rPr>
              <a:t>( obj ),</a:t>
            </a:r>
          </a:p>
          <a:p>
            <a:pPr lvl="2">
              <a:buFontTx/>
              <a:buNone/>
            </a:pPr>
            <a:r>
              <a:rPr lang="en-CA" altLang="en-US" dirty="0" err="1">
                <a:latin typeface="Consolas" pitchFamily="49" charset="0"/>
                <a:cs typeface="Arial" charset="0"/>
              </a:rPr>
              <a:t>parent_node</a:t>
            </a:r>
            <a:r>
              <a:rPr lang="en-CA" altLang="en-US" dirty="0">
                <a:latin typeface="Consolas" pitchFamily="49" charset="0"/>
                <a:cs typeface="Arial" charset="0"/>
              </a:rPr>
              <a:t>( p ),</a:t>
            </a:r>
          </a:p>
          <a:p>
            <a:pPr lvl="2">
              <a:buFontTx/>
              <a:buNone/>
            </a:pPr>
            <a:r>
              <a:rPr lang="en-CA" altLang="en-US" dirty="0" err="1">
                <a:latin typeface="Consolas" pitchFamily="49" charset="0"/>
                <a:cs typeface="Arial" charset="0"/>
              </a:rPr>
              <a:t>child_count</a:t>
            </a:r>
            <a:r>
              <a:rPr lang="en-CA" altLang="en-US" dirty="0">
                <a:latin typeface="Consolas" pitchFamily="49" charset="0"/>
                <a:cs typeface="Arial" charset="0"/>
              </a:rPr>
              <a:t>( 0 ),</a:t>
            </a:r>
          </a:p>
          <a:p>
            <a:pPr lvl="2">
              <a:buFontTx/>
              <a:buNone/>
            </a:pPr>
            <a:r>
              <a:rPr lang="en-CA" altLang="en-US" dirty="0" err="1">
                <a:latin typeface="Consolas" pitchFamily="49" charset="0"/>
                <a:cs typeface="Arial" charset="0"/>
              </a:rPr>
              <a:t>child_capacity</a:t>
            </a:r>
            <a:r>
              <a:rPr lang="en-CA" altLang="en-US" dirty="0">
                <a:latin typeface="Consolas" pitchFamily="49" charset="0"/>
                <a:cs typeface="Arial" charset="0"/>
              </a:rPr>
              <a:t>( 4 ),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children( new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 *[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child_capacity</a:t>
            </a:r>
            <a:r>
              <a:rPr lang="en-CA" altLang="en-US" dirty="0">
                <a:latin typeface="Consolas" pitchFamily="49" charset="0"/>
                <a:cs typeface="Arial" charset="0"/>
              </a:rPr>
              <a:t>] ) {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// Empty constructor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}</a:t>
            </a:r>
            <a:br>
              <a:rPr lang="en-CA" altLang="en-US" dirty="0">
                <a:latin typeface="Consolas" pitchFamily="49" charset="0"/>
                <a:cs typeface="Arial" charset="0"/>
              </a:rPr>
            </a:br>
            <a:endParaRPr lang="en-CA" altLang="en-US" sz="4000" dirty="0">
              <a:latin typeface="Consolas" pitchFamily="49" charset="0"/>
              <a:cs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1459</Words>
  <Application>Microsoft Office PowerPoint</Application>
  <PresentationFormat>Widescreen</PresentationFormat>
  <Paragraphs>233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Consolas</vt:lpstr>
      <vt:lpstr>Gill Sans MT</vt:lpstr>
      <vt:lpstr>Symbol</vt:lpstr>
      <vt:lpstr>Times New Roman</vt:lpstr>
      <vt:lpstr>Wingdings 2</vt:lpstr>
      <vt:lpstr>Dividend</vt:lpstr>
      <vt:lpstr>Abstract Trees </vt:lpstr>
      <vt:lpstr>Outline</vt:lpstr>
      <vt:lpstr>Outline</vt:lpstr>
      <vt:lpstr>Abstract Trees</vt:lpstr>
      <vt:lpstr>Abstract Trees:  Design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Doubly Linked list Implementation</dc:title>
  <dc:creator>asra masood</dc:creator>
  <cp:lastModifiedBy>asra masood</cp:lastModifiedBy>
  <cp:revision>10</cp:revision>
  <dcterms:created xsi:type="dcterms:W3CDTF">2025-09-04T21:47:56Z</dcterms:created>
  <dcterms:modified xsi:type="dcterms:W3CDTF">2025-12-02T05:03:10Z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b9db0154137845709c71be7c8a480134</vt:lpwstr>
  </property>
</Properties>
</file>