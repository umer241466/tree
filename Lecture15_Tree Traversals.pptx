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303" r:id="rId3"/>
    <p:sldId id="304" r:id="rId4"/>
    <p:sldId id="305" r:id="rId5"/>
    <p:sldId id="306" r:id="rId6"/>
    <p:sldId id="307" r:id="rId7"/>
    <p:sldId id="327" r:id="rId8"/>
    <p:sldId id="308" r:id="rId9"/>
    <p:sldId id="309" r:id="rId10"/>
    <p:sldId id="312" r:id="rId11"/>
    <p:sldId id="328" r:id="rId12"/>
    <p:sldId id="31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7" autoAdjust="0"/>
    <p:restoredTop sz="94660"/>
  </p:normalViewPr>
  <p:slideViewPr>
    <p:cSldViewPr snapToGrid="0">
      <p:cViewPr varScale="1">
        <p:scale>
          <a:sx n="47" d="100"/>
          <a:sy n="47" d="100"/>
        </p:scale>
        <p:origin x="4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4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883C8-6976-46CB-99E8-F5EF2192834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7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7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CBB16-D1D4-40FC-B9F7-93C443F2FA6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CBB16-D1D4-40FC-B9F7-93C443F2FA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42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B509167-6950-4FC3-9EBC-84256AC2C3A0}" type="slidenum">
              <a:rPr lang="en-CA" smtClean="0"/>
              <a:pPr>
                <a:defRPr/>
              </a:pPr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3206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678FB6C8-1045-49AA-9DC3-18FB05926E82}" type="slidenum">
              <a:rPr lang="en-CA" sz="1200">
                <a:latin typeface="+mn-lt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</a:t>
            </a:fld>
            <a:endParaRPr lang="en-CA" sz="120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6457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ECEB0C-9FE1-4A6A-8ABF-305C80420742}" type="slidenum">
              <a:rPr lang="en-CA" smtClean="0"/>
              <a:pPr>
                <a:defRPr/>
              </a:pPr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6818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AE59F4-5482-441E-BF85-8750CE31FAA4}" type="slidenum">
              <a:rPr lang="en-CA" smtClean="0"/>
              <a:pPr>
                <a:defRPr/>
              </a:pPr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5838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7221D-24EF-E4C9-58B0-9589357F0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CA26B5C8-F0B6-B6C2-03C7-5751C79D79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D06A777B-A0C6-36DE-E909-F5FB034282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D67C2-1E0E-6030-CD19-C36FE8690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AE59F4-5482-441E-BF85-8750CE31FAA4}" type="slidenum">
              <a:rPr lang="en-CA" smtClean="0"/>
              <a:pPr>
                <a:defRPr/>
              </a:pPr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0264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9B4D82-B8AC-46EC-A3D1-E4FA5D4A29A2}" type="slidenum">
              <a:rPr lang="en-CA" smtClean="0"/>
              <a:pPr>
                <a:defRPr/>
              </a:pPr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5029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E46763-8D22-4E52-96C9-0EEB6CB11726}" type="slidenum">
              <a:rPr lang="en-CA" smtClean="0"/>
              <a:pPr>
                <a:defRPr/>
              </a:pPr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3407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471DB4-0F23-42DC-BAE7-AA800A481B15}" type="slidenum">
              <a:rPr lang="en-CA" smtClean="0"/>
              <a:pPr>
                <a:defRPr/>
              </a:pPr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9000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0B431-CC42-2733-B786-E8BFF8D42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DA2B42A0-FF61-121A-CAD9-F8A0B467EA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0C0C39DB-8415-95E4-757E-EE6D3BAE7C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982E7-ACBE-8B4F-0031-1950951010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471DB4-0F23-42DC-BAE7-AA800A481B15}" type="slidenum">
              <a:rPr lang="en-CA" smtClean="0"/>
              <a:pPr>
                <a:defRPr/>
              </a:pPr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2166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006664EF-FA5E-4E0E-82DD-5203A7337EFE}" type="slidenum">
              <a:rPr lang="en-CA" sz="1200">
                <a:latin typeface="+mn-lt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12</a:t>
            </a:fld>
            <a:endParaRPr lang="en-CA" sz="120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675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585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6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587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58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593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9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59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713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4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7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7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719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20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21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2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72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726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27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8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2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0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3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73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69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  <p:sp>
        <p:nvSpPr>
          <p:cNvPr id="1048692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73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738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39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40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74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74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1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702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70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0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707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/>
            <a:lvl2pPr algn="l"/>
            <a:lvl3pPr algn="l"/>
            <a:lvl4pPr algn="l"/>
            <a:lvl5pPr algn="l"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0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7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695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97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69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4869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  <p:sp>
        <p:nvSpPr>
          <p:cNvPr id="1048581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582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583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/>
              <a:t>Tree Traversal </a:t>
            </a:r>
            <a:endParaRPr lang="en-US" dirty="0"/>
          </a:p>
        </p:txBody>
      </p:sp>
      <p:sp>
        <p:nvSpPr>
          <p:cNvPr id="1048591" name="TextBox 3"/>
          <p:cNvSpPr txBox="1"/>
          <p:nvPr/>
        </p:nvSpPr>
        <p:spPr>
          <a:xfrm>
            <a:off x="7958011" y="5237404"/>
            <a:ext cx="3702099" cy="1424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Asra Masood</a:t>
            </a:r>
          </a:p>
          <a:p>
            <a:r>
              <a:rPr lang="en-US" dirty="0">
                <a:solidFill>
                  <a:schemeClr val="bg1"/>
                </a:solidFill>
              </a:rPr>
              <a:t>Department of Creative Technologies</a:t>
            </a:r>
          </a:p>
          <a:p>
            <a:r>
              <a:rPr lang="en-US" dirty="0">
                <a:solidFill>
                  <a:schemeClr val="bg1"/>
                </a:solidFill>
              </a:rPr>
              <a:t>Air University Islamabad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97152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195674" y="812660"/>
            <a:ext cx="1464436" cy="146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This topic will cover tree traversals: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A means of visiting all the objects in a tree data structure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We will look at</a:t>
            </a:r>
          </a:p>
          <a:p>
            <a:pPr lvl="2"/>
            <a:r>
              <a:rPr lang="en-US" altLang="en-US" dirty="0">
                <a:latin typeface="Arial" charset="0"/>
                <a:cs typeface="Arial" charset="0"/>
              </a:rPr>
              <a:t>Breadth-first traversals</a:t>
            </a:r>
          </a:p>
          <a:p>
            <a:pPr lvl="2"/>
            <a:r>
              <a:rPr lang="en-US" altLang="en-US" dirty="0">
                <a:latin typeface="Arial" charset="0"/>
                <a:cs typeface="Arial" charset="0"/>
              </a:rPr>
              <a:t>Depth-first traversals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Applications</a:t>
            </a:r>
          </a:p>
        </p:txBody>
      </p:sp>
    </p:spTree>
    <p:extLst>
      <p:ext uri="{BB962C8B-B14F-4D97-AF65-F5344CB8AC3E}">
        <p14:creationId xmlns:p14="http://schemas.microsoft.com/office/powerpoint/2010/main" val="1575854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81192" y="512619"/>
            <a:ext cx="11029616" cy="1189554"/>
          </a:xfrm>
        </p:spPr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Background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8529" y="1702173"/>
            <a:ext cx="11029616" cy="3522794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All the objects stored in an array or linked list can be accessed sequentially</a:t>
            </a: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When discussing deques, we introduced iterators in C++: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These allow the user to step through all the objects in a container</a:t>
            </a: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Question:  how can we iterate through all the objects in a tree in a predictable and efficient manner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Requirements:  </a:t>
            </a:r>
            <a:r>
              <a:rPr lang="en-US" altLang="en-US" dirty="0">
                <a:latin typeface="Symbol" pitchFamily="18" charset="2"/>
                <a:cs typeface="Arial" charset="0"/>
              </a:rPr>
              <a:t>Q</a:t>
            </a:r>
            <a:r>
              <a:rPr lang="en-US" altLang="en-US" dirty="0">
                <a:latin typeface="Times" pitchFamily="18" charset="0"/>
                <a:cs typeface="Arial" charset="0"/>
              </a:rPr>
              <a:t>(</a:t>
            </a:r>
            <a:r>
              <a:rPr lang="en-US" altLang="en-US" i="1" dirty="0">
                <a:latin typeface="Times" pitchFamily="18" charset="0"/>
                <a:cs typeface="Arial" charset="0"/>
              </a:rPr>
              <a:t>n</a:t>
            </a:r>
            <a:r>
              <a:rPr lang="en-US" altLang="en-US" dirty="0">
                <a:latin typeface="Times" pitchFamily="18" charset="0"/>
                <a:cs typeface="Arial" charset="0"/>
              </a:rPr>
              <a:t>)</a:t>
            </a:r>
            <a:r>
              <a:rPr lang="en-US" altLang="en-US" dirty="0">
                <a:latin typeface="Arial" charset="0"/>
                <a:cs typeface="Arial" charset="0"/>
              </a:rPr>
              <a:t> run time and 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o(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)</a:t>
            </a:r>
            <a:r>
              <a:rPr lang="en-US" altLang="en-US" dirty="0">
                <a:latin typeface="Arial" charset="0"/>
                <a:cs typeface="Arial" charset="0"/>
              </a:rPr>
              <a:t> memory </a:t>
            </a:r>
          </a:p>
        </p:txBody>
      </p:sp>
    </p:spTree>
    <p:extLst>
      <p:ext uri="{BB962C8B-B14F-4D97-AF65-F5344CB8AC3E}">
        <p14:creationId xmlns:p14="http://schemas.microsoft.com/office/powerpoint/2010/main" val="672808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>
                <a:latin typeface="Arial" charset="0"/>
                <a:cs typeface="Arial" charset="0"/>
              </a:rPr>
              <a:t>Types of Traversals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304466" y="1903770"/>
            <a:ext cx="11029615" cy="367830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We have already seen one traversal:</a:t>
            </a:r>
          </a:p>
          <a:p>
            <a:pPr lvl="1"/>
            <a:r>
              <a:rPr lang="en-US" altLang="en-US" sz="2000" dirty="0">
                <a:latin typeface="Arial" charset="0"/>
                <a:cs typeface="Arial" charset="0"/>
              </a:rPr>
              <a:t>The breadth-first traversal visits all nodes at depth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en-US" sz="2000" dirty="0">
                <a:latin typeface="Arial" charset="0"/>
                <a:cs typeface="Arial" charset="0"/>
              </a:rPr>
              <a:t> before proceeding onto depth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+ 1</a:t>
            </a:r>
            <a:endParaRPr lang="en-US" altLang="en-US" sz="2000" dirty="0">
              <a:latin typeface="Arial" charset="0"/>
              <a:cs typeface="Arial" charset="0"/>
            </a:endParaRPr>
          </a:p>
          <a:p>
            <a:pPr lvl="1"/>
            <a:r>
              <a:rPr lang="en-US" altLang="en-US" sz="2000" dirty="0">
                <a:latin typeface="Arial" charset="0"/>
                <a:cs typeface="Arial" charset="0"/>
              </a:rPr>
              <a:t>Easy to implement using a queue</a:t>
            </a:r>
            <a:endParaRPr lang="en-US" altLang="en-US" dirty="0">
              <a:latin typeface="Arial" charset="0"/>
              <a:cs typeface="Arial" charset="0"/>
            </a:endParaRPr>
          </a:p>
          <a:p>
            <a:pPr lvl="1"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Another approach is to visit always go as deep as possible before visiting other siblings:  </a:t>
            </a:r>
            <a:r>
              <a:rPr lang="en-US" altLang="en-US" i="1" dirty="0">
                <a:latin typeface="Arial" charset="0"/>
                <a:cs typeface="Arial" charset="0"/>
              </a:rPr>
              <a:t>depth-first traversals</a:t>
            </a:r>
            <a:endParaRPr lang="en-US" altLang="en-US" dirty="0">
              <a:latin typeface="Arial" charset="0"/>
              <a:cs typeface="Arial" charset="0"/>
            </a:endParaRPr>
          </a:p>
          <a:p>
            <a:endParaRPr lang="en-CA" alt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784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Breadth-First Traversal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1500284"/>
            <a:ext cx="11029615" cy="2073095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Breadth-first traversals visit all nodes at a given depth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Can be implemented using a queue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Order:  A B H C D G I E F J K</a:t>
            </a:r>
          </a:p>
        </p:txBody>
      </p:sp>
      <p:pic>
        <p:nvPicPr>
          <p:cNvPr id="8196" name="Picture 4" descr="t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817" y="3429000"/>
            <a:ext cx="4932363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5295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Breadth-First Traversal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150" y="1847616"/>
            <a:ext cx="11029615" cy="2146181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The implementation was already discussed: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Create a queue and push the root node onto the queue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While the queue is not empty:</a:t>
            </a:r>
          </a:p>
          <a:p>
            <a:pPr lvl="2"/>
            <a:r>
              <a:rPr lang="en-US" altLang="en-US" dirty="0">
                <a:latin typeface="Arial" charset="0"/>
                <a:cs typeface="Arial" charset="0"/>
              </a:rPr>
              <a:t>Push all of its children of the front node onto the queue</a:t>
            </a:r>
          </a:p>
          <a:p>
            <a:pPr lvl="2"/>
            <a:r>
              <a:rPr lang="en-US" altLang="en-US" dirty="0">
                <a:latin typeface="Arial" charset="0"/>
                <a:cs typeface="Arial" charset="0"/>
              </a:rPr>
              <a:t>Pop the front node</a:t>
            </a:r>
          </a:p>
        </p:txBody>
      </p:sp>
      <p:pic>
        <p:nvPicPr>
          <p:cNvPr id="9220" name="Picture 4" descr="t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818" y="3636481"/>
            <a:ext cx="4932363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073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D4425-C186-4D7C-3A82-4033CA64A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18CC00B-55F1-4606-AD6E-56C1CFC11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Breadth-First Traversal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308F20F-AEAB-4B3A-62E3-35673F81AC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150" y="1847616"/>
            <a:ext cx="11029615" cy="2146181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The implementation was already discussed:</a:t>
            </a: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</p:txBody>
      </p:sp>
      <p:pic>
        <p:nvPicPr>
          <p:cNvPr id="9220" name="Picture 4" descr="t2">
            <a:extLst>
              <a:ext uri="{FF2B5EF4-FFF2-40B4-BE49-F238E27FC236}">
                <a16:creationId xmlns:a16="http://schemas.microsoft.com/office/drawing/2014/main" id="{C06CB382-7DBC-3D2F-8F9B-EAB5BCECC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8445" y="3203344"/>
            <a:ext cx="4932363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E63F57-0BB0-C32B-A41A-2AC983EB4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92" y="3203344"/>
            <a:ext cx="60102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465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4" descr="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723" y="3429000"/>
            <a:ext cx="3657600" cy="263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Backtracking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1030" y="1109685"/>
            <a:ext cx="11029615" cy="367830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To discuss depth-first traversals, we will define a backtracking algorithm for stepping through a tree: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At any node, we proceed to the first child that has not yet been visited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Or, if we have visited all the children (of which a leaf node is a special case), we backtrack to the parent and repeat this decision making process</a:t>
            </a: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We end once all the children</a:t>
            </a:r>
            <a:br>
              <a:rPr lang="en-US" altLang="en-US" dirty="0">
                <a:latin typeface="Arial" charset="0"/>
                <a:cs typeface="Arial" charset="0"/>
              </a:rPr>
            </a:br>
            <a:r>
              <a:rPr lang="en-US" altLang="en-US" dirty="0">
                <a:latin typeface="Arial" charset="0"/>
                <a:cs typeface="Arial" charset="0"/>
              </a:rPr>
              <a:t>of the root are visited</a:t>
            </a:r>
          </a:p>
        </p:txBody>
      </p:sp>
    </p:spTree>
    <p:extLst>
      <p:ext uri="{BB962C8B-B14F-4D97-AF65-F5344CB8AC3E}">
        <p14:creationId xmlns:p14="http://schemas.microsoft.com/office/powerpoint/2010/main" val="2825378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Depth-first Traversal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2592" y="1049528"/>
            <a:ext cx="11029615" cy="367830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We define such a path as a </a:t>
            </a:r>
            <a:r>
              <a:rPr lang="en-US" altLang="en-US" i="1" dirty="0">
                <a:latin typeface="Arial" charset="0"/>
                <a:cs typeface="Arial" charset="0"/>
              </a:rPr>
              <a:t>depth-first traversal</a:t>
            </a: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We note that each node could be visited twice in such a scheme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The first time the node is approached (before any children)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The last time it is approached (after all children)</a:t>
            </a:r>
          </a:p>
        </p:txBody>
      </p:sp>
      <p:pic>
        <p:nvPicPr>
          <p:cNvPr id="11268" name="Picture 4" descr="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825214"/>
            <a:ext cx="36576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7645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Implementing depth-first traversals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2180497"/>
            <a:ext cx="11029615" cy="1013800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Depth-first traversals can be implemented with recursion:</a:t>
            </a:r>
            <a:endParaRPr lang="en-US" altLang="en-US" sz="1600" dirty="0">
              <a:latin typeface="Consolas" pitchFamily="49" charset="0"/>
              <a:cs typeface="Arial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Consolas" pitchFamily="49" charset="0"/>
                <a:cs typeface="Arial" charset="0"/>
              </a:rPr>
              <a:t>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30C233-9DC8-9B9A-85FB-D6F496617E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91"/>
          <a:stretch>
            <a:fillRect/>
          </a:stretch>
        </p:blipFill>
        <p:spPr>
          <a:xfrm>
            <a:off x="1004135" y="2996850"/>
            <a:ext cx="10784056" cy="250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107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BF956-2C96-645A-42E4-43C5C91AF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C9A3CCF-5157-9D78-43CF-C2DC1B2A3B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Implementing depth-first traversals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51927C8-021B-3818-82C2-7B6BFECC5C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1192" y="2180497"/>
            <a:ext cx="11029615" cy="1013800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Pre-visit and post-visit with recursion:</a:t>
            </a:r>
            <a:endParaRPr lang="en-US" altLang="en-US" sz="1600" dirty="0">
              <a:latin typeface="Consolas" pitchFamily="49" charset="0"/>
              <a:cs typeface="Arial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Consolas" pitchFamily="49" charset="0"/>
                <a:cs typeface="Arial" charset="0"/>
              </a:rPr>
              <a:t>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852D5C-6EB1-E569-9C39-5C0D1A5AC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22" y="2773012"/>
            <a:ext cx="10603175" cy="338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37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81192" y="404426"/>
            <a:ext cx="11029616" cy="1189554"/>
          </a:xfrm>
        </p:spPr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Implementing depth-first traversals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81192" y="1971040"/>
            <a:ext cx="11029616" cy="5100320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	Alternatively, we can use a stack: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Create a stack and push the root node onto the stack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While the stack is not empty:</a:t>
            </a:r>
          </a:p>
          <a:p>
            <a:pPr lvl="2"/>
            <a:r>
              <a:rPr lang="en-US" altLang="en-US" dirty="0">
                <a:latin typeface="Arial" charset="0"/>
                <a:cs typeface="Arial" charset="0"/>
              </a:rPr>
              <a:t>Pop the top node </a:t>
            </a:r>
          </a:p>
          <a:p>
            <a:pPr lvl="2"/>
            <a:r>
              <a:rPr lang="en-US" altLang="en-US" dirty="0">
                <a:latin typeface="Arial" charset="0"/>
                <a:cs typeface="Arial" charset="0"/>
              </a:rPr>
              <a:t>Push all of the children of that node to the top of the stack in reverse order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Run time is </a:t>
            </a:r>
            <a:r>
              <a:rPr lang="en-US" altLang="en-US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The objects on the stack are all unvisited siblings from the root to the current node</a:t>
            </a:r>
          </a:p>
          <a:p>
            <a:pPr lvl="2"/>
            <a:r>
              <a:rPr lang="en-US" altLang="en-US" dirty="0">
                <a:latin typeface="Arial" charset="0"/>
                <a:cs typeface="Arial" charset="0"/>
              </a:rPr>
              <a:t>If each node has a maximum of two children, the memory required is </a:t>
            </a:r>
            <a:r>
              <a:rPr lang="en-US" altLang="en-US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en-US" dirty="0">
                <a:latin typeface="Arial" charset="0"/>
                <a:cs typeface="Arial" charset="0"/>
              </a:rPr>
              <a:t>:  the height of the tree</a:t>
            </a:r>
          </a:p>
          <a:p>
            <a:pPr lvl="1"/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With the recursive implementation, the memory is </a:t>
            </a:r>
            <a:r>
              <a:rPr lang="en-US" altLang="en-US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en-US" dirty="0">
                <a:latin typeface="Arial" charset="0"/>
                <a:cs typeface="Arial" charset="0"/>
              </a:rPr>
              <a:t>:  recursion just hides the memory</a:t>
            </a:r>
          </a:p>
          <a:p>
            <a:pPr lvl="2"/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99215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528</Words>
  <Application>Microsoft Office PowerPoint</Application>
  <PresentationFormat>Widescreen</PresentationFormat>
  <Paragraphs>76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Consolas</vt:lpstr>
      <vt:lpstr>Gill Sans MT</vt:lpstr>
      <vt:lpstr>Symbol</vt:lpstr>
      <vt:lpstr>Times</vt:lpstr>
      <vt:lpstr>Times New Roman</vt:lpstr>
      <vt:lpstr>Wingdings 2</vt:lpstr>
      <vt:lpstr>Dividend</vt:lpstr>
      <vt:lpstr>Tree Traversal </vt:lpstr>
      <vt:lpstr>Outline</vt:lpstr>
      <vt:lpstr>Background</vt:lpstr>
      <vt:lpstr>Types of Traversals</vt:lpstr>
      <vt:lpstr>Breadth-First Traversal</vt:lpstr>
      <vt:lpstr>Breadth-First Traversal</vt:lpstr>
      <vt:lpstr>Breadth-First Traversal</vt:lpstr>
      <vt:lpstr>Backtracking</vt:lpstr>
      <vt:lpstr>Depth-first Traversal</vt:lpstr>
      <vt:lpstr>Implementing depth-first traversals</vt:lpstr>
      <vt:lpstr>Implementing depth-first traversals</vt:lpstr>
      <vt:lpstr>Implementing depth-first traversals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Doubly Linked list Implementation</dc:title>
  <dc:creator>asra masood</dc:creator>
  <cp:lastModifiedBy>asra masood</cp:lastModifiedBy>
  <cp:revision>27</cp:revision>
  <dcterms:created xsi:type="dcterms:W3CDTF">2025-09-04T21:47:56Z</dcterms:created>
  <dcterms:modified xsi:type="dcterms:W3CDTF">2025-12-02T06:35:30Z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b9db0154137845709c71be7c8a480134</vt:lpwstr>
  </property>
</Properties>
</file>